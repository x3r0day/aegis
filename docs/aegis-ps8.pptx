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21527" y="1627632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FF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21527" y="162763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217"/>
                </a:solidFill>
                <a:latin typeface="Inter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95728"/>
            <a:ext cx="94484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707A"/>
                </a:solidFill>
                <a:latin typeface="Inter"/>
              </a:rPr>
              <a:t>SMART INDIA HACKATHON · PROBLEM STATEMENT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70048"/>
            <a:ext cx="94484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CCCCDC"/>
                </a:solidFill>
                <a:latin typeface="Inter"/>
              </a:rPr>
              <a:t>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B8D97"/>
                </a:solidFill>
                <a:latin typeface="Inter"/>
              </a:rPr>
              <a:t>Insider threat, anomalous access and autonomous cyber defense.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647" y="4224528"/>
            <a:ext cx="914400" cy="32004"/>
          </a:xfrm>
          <a:prstGeom prst="rect">
            <a:avLst/>
          </a:prstGeom>
          <a:solidFill>
            <a:srgbClr val="FF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22779" y="4526280"/>
            <a:ext cx="2514600" cy="420624"/>
          </a:xfrm>
          <a:prstGeom prst="roundRect">
            <a:avLst>
              <a:gd name="adj" fmla="val 50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2779" y="4526280"/>
            <a:ext cx="25146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8D97"/>
                </a:solidFill>
                <a:latin typeface="Inter"/>
              </a:rPr>
              <a:t>self-hosted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8547" y="4526280"/>
            <a:ext cx="2514600" cy="420624"/>
          </a:xfrm>
          <a:prstGeom prst="roundRect">
            <a:avLst>
              <a:gd name="adj" fmla="val 50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8547" y="4526280"/>
            <a:ext cx="25146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8D97"/>
                </a:solidFill>
                <a:latin typeface="Inter"/>
              </a:rPr>
              <a:t>sub-millisecond guard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54315" y="4526280"/>
            <a:ext cx="2514600" cy="420624"/>
          </a:xfrm>
          <a:prstGeom prst="roundRect">
            <a:avLst>
              <a:gd name="adj" fmla="val 50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4315" y="4526280"/>
            <a:ext cx="25146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8D97"/>
                </a:solidFill>
                <a:latin typeface="Inter"/>
              </a:rPr>
              <a:t>one console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FF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217"/>
                </a:solidFill>
                <a:latin typeface="Inter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42062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707A"/>
                </a:solidFill>
                <a:latin typeface="Inter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CCCDC"/>
                </a:solidFill>
                <a:latin typeface="Inter"/>
              </a:rPr>
              <a:t>What goes wrong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0292" cy="3017520"/>
          </a:xfrm>
          <a:prstGeom prst="rect">
            <a:avLst/>
          </a:prstGeom>
          <a:solidFill>
            <a:srgbClr val="F24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3212" y="1572768"/>
            <a:ext cx="3525926" cy="3017520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47088"/>
            <a:ext cx="2954426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CCCDC"/>
                </a:solidFill>
                <a:latin typeface="Inter"/>
              </a:rPr>
              <a:t>Attacks look like normal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51760"/>
            <a:ext cx="2954426" cy="16916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8D97"/>
                </a:solidFill>
                <a:latin typeface="Inter"/>
              </a:rPr>
              <a:t>Prompt injection hijacks the model through a chat message. Scrapers and login bots hide inside ordinary API calls, so firewalls see nothing to stop.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572768"/>
            <a:ext cx="50292" cy="3017520"/>
          </a:xfrm>
          <a:prstGeom prst="rect">
            <a:avLst/>
          </a:prstGeom>
          <a:solidFill>
            <a:srgbClr val="FF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8030" y="1572768"/>
            <a:ext cx="3525926" cy="3017520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0346" y="1847088"/>
            <a:ext cx="2954426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CCCDC"/>
                </a:solidFill>
                <a:latin typeface="Inter"/>
              </a:rPr>
              <a:t>Insiders don't trip rate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346" y="2651760"/>
            <a:ext cx="2954426" cy="16916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8D97"/>
                </a:solidFill>
                <a:latin typeface="Inter"/>
              </a:rPr>
              <a:t>One request to a file someone has never opened is invisible to volume rules. Behaviour, not volume, gives them away: new resources, odd hours, shared keys.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2556" y="1572768"/>
            <a:ext cx="50292" cy="3017520"/>
          </a:xfrm>
          <a:prstGeom prst="rect">
            <a:avLst/>
          </a:prstGeom>
          <a:solidFill>
            <a:srgbClr val="B87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62848" y="1572768"/>
            <a:ext cx="3525926" cy="3017520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5164" y="1847088"/>
            <a:ext cx="2954426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CCCDC"/>
                </a:solidFill>
                <a:latin typeface="Inter"/>
              </a:rPr>
              <a:t>Tools alert, they do not 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5164" y="2651760"/>
            <a:ext cx="2954426" cy="16916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8D97"/>
                </a:solidFill>
                <a:latin typeface="Inter"/>
              </a:rPr>
              <a:t>Dashboards report the damage after the data or keys are gone. The block has to happen while the request is still in flight.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2040"/>
            <a:ext cx="11185855" cy="566928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892040"/>
            <a:ext cx="1118585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8D97"/>
                </a:solidFill>
                <a:latin typeface="Inter"/>
              </a:rPr>
              <a:t>Aegis watches behaviour, not just signatures, and </a:t>
            </a:r>
            <a:r>
              <a:rPr sz="1250" b="0">
                <a:solidFill>
                  <a:srgbClr val="CCCCDC"/>
                </a:solidFill>
                <a:latin typeface="Inter"/>
              </a:rPr>
              <a:t>acts while the request is in flight.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38251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07A"/>
                </a:solidFill>
                <a:latin typeface="Inter"/>
              </a:rPr>
              <a:t>Aegis · PS-8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43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07A"/>
                </a:solidFill>
                <a:latin typeface="Inter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FF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217"/>
                </a:solidFill>
                <a:latin typeface="Inter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42062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707A"/>
                </a:solidFill>
                <a:latin typeface="Inter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CCCDC"/>
                </a:solidFill>
                <a:latin typeface="Inter"/>
              </a:rPr>
              <a:t>One guard for models, APIs and insiders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50292" cy="1956816"/>
          </a:xfrm>
          <a:prstGeom prst="rect">
            <a:avLst/>
          </a:prstGeom>
          <a:solidFill>
            <a:srgbClr val="579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3212" y="1536192"/>
            <a:ext cx="5414619" cy="1956816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484311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CCCDC"/>
                </a:solidFill>
                <a:latin typeface="Inter"/>
              </a:rPr>
              <a:t>Prompt-injection firewall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615184"/>
            <a:ext cx="4843119" cy="6309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8D97"/>
                </a:solidFill>
                <a:latin typeface="Inter"/>
              </a:rPr>
              <a:t>Screens every request before the model sees it. 22/22 on the evaluation set, and a distilled student answers in microseconds.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3863" y="1536192"/>
            <a:ext cx="50292" cy="1956816"/>
          </a:xfrm>
          <a:prstGeom prst="rect">
            <a:avLst/>
          </a:prstGeom>
          <a:solidFill>
            <a:srgbClr val="FF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4155" y="1536192"/>
            <a:ext cx="5414619" cy="1956816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6471" y="1810512"/>
            <a:ext cx="484311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CCCDC"/>
                </a:solidFill>
                <a:latin typeface="Inter"/>
              </a:rPr>
              <a:t>API abuse 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2615184"/>
            <a:ext cx="4843119" cy="6309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8D97"/>
                </a:solidFill>
                <a:latin typeface="Inter"/>
              </a:rPr>
              <a:t>Builds a behavioural profile per client: rate, cadence, ID walks, auth failures. Blocks scrapers and credential stuffing automatically.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39312"/>
            <a:ext cx="50292" cy="1956816"/>
          </a:xfrm>
          <a:prstGeom prst="rect">
            <a:avLst/>
          </a:prstGeom>
          <a:solidFill>
            <a:srgbClr val="B87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3212" y="3639312"/>
            <a:ext cx="5414619" cy="1956816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913632"/>
            <a:ext cx="484311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CCCDC"/>
                </a:solidFill>
                <a:latin typeface="Inter"/>
              </a:rPr>
              <a:t>Insider access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718304"/>
            <a:ext cx="4843119" cy="6309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8D97"/>
                </a:solidFill>
                <a:latin typeface="Inter"/>
              </a:rPr>
              <a:t>Learns which resources each client normally touches, then flags never-seen access, rare endpoints and keys shared across addresses.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3" y="3639312"/>
            <a:ext cx="50292" cy="1956816"/>
          </a:xfrm>
          <a:prstGeom prst="rect">
            <a:avLst/>
          </a:prstGeom>
          <a:solidFill>
            <a:srgbClr val="73B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4155" y="3639312"/>
            <a:ext cx="5414619" cy="1956816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6471" y="3913632"/>
            <a:ext cx="484311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CCCDC"/>
                </a:solidFill>
                <a:latin typeface="Inter"/>
              </a:rPr>
              <a:t>Console and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471" y="4718304"/>
            <a:ext cx="4843119" cy="6309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8D97"/>
                </a:solidFill>
                <a:latin typeface="Inter"/>
              </a:rPr>
              <a:t>One dashboard for monitoring, settings and retention, with block and unblock controls and a full decision log.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8251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07A"/>
                </a:solidFill>
                <a:latin typeface="Inter"/>
              </a:rPr>
              <a:t>Aegis · PS-8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43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07A"/>
                </a:solidFill>
                <a:latin typeface="Inter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FF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217"/>
                </a:solidFill>
                <a:latin typeface="Inter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42062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707A"/>
                </a:solidFill>
                <a:latin typeface="Inter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CCCDC"/>
                </a:solidFill>
                <a:latin typeface="Inter"/>
              </a:rPr>
              <a:t>Triggers first, model second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017715" cy="1234440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834835" cy="1234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CCCDC"/>
                </a:solidFill>
                <a:latin typeface="Inter"/>
              </a:rPr>
              <a:t>requests &amp;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CCCDC"/>
                </a:solidFill>
                <a:latin typeface="Inter"/>
              </a:rPr>
              <a:t>telemetry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57211" y="2180844"/>
            <a:ext cx="201168" cy="164592"/>
          </a:xfrm>
          <a:prstGeom prst="rightArrow">
            <a:avLst/>
          </a:prstGeom>
          <a:solidFill>
            <a:srgbClr val="6D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4955" y="1645920"/>
            <a:ext cx="2017715" cy="1234440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6395" y="1645920"/>
            <a:ext cx="1834835" cy="1234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CCCDC"/>
                </a:solidFill>
                <a:latin typeface="Inter"/>
              </a:rPr>
              <a:t>cheap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CCCDC"/>
                </a:solidFill>
                <a:latin typeface="Inter"/>
              </a:rPr>
              <a:t>triggers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49246" y="2180844"/>
            <a:ext cx="201168" cy="164592"/>
          </a:xfrm>
          <a:prstGeom prst="rightArrow">
            <a:avLst/>
          </a:prstGeom>
          <a:solidFill>
            <a:srgbClr val="6D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86990" y="1645920"/>
            <a:ext cx="2017715" cy="1234440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8430" y="1645920"/>
            <a:ext cx="1834835" cy="1234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CCCDC"/>
                </a:solidFill>
                <a:latin typeface="Inter"/>
              </a:rPr>
              <a:t>Laya decision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CCCDC"/>
                </a:solidFill>
                <a:latin typeface="Inter"/>
              </a:rPr>
              <a:t>models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41281" y="2180844"/>
            <a:ext cx="201168" cy="164592"/>
          </a:xfrm>
          <a:prstGeom prst="rightArrow">
            <a:avLst/>
          </a:prstGeom>
          <a:solidFill>
            <a:srgbClr val="6D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79025" y="1645920"/>
            <a:ext cx="2017715" cy="1234440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465" y="1645920"/>
            <a:ext cx="1834835" cy="1234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CCCDC"/>
                </a:solidFill>
                <a:latin typeface="Inter"/>
              </a:rPr>
              <a:t>allow / block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CCCDC"/>
                </a:solidFill>
                <a:latin typeface="Inter"/>
              </a:rPr>
              <a:t>policy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33316" y="2180844"/>
            <a:ext cx="201168" cy="164592"/>
          </a:xfrm>
          <a:prstGeom prst="rightArrow">
            <a:avLst/>
          </a:prstGeom>
          <a:solidFill>
            <a:srgbClr val="6D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71060" y="1645920"/>
            <a:ext cx="2017715" cy="1234440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62500" y="1645920"/>
            <a:ext cx="1834835" cy="1234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CCCDC"/>
                </a:solidFill>
                <a:latin typeface="Inter"/>
              </a:rPr>
              <a:t>enforcement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CCCDC"/>
                </a:solidFill>
                <a:latin typeface="Inter"/>
              </a:rPr>
              <a:t>+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11185855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FF9830"/>
                </a:solidFill>
                <a:latin typeface="Inter"/>
              </a:rPr>
              <a:t>•  </a:t>
            </a:r>
            <a:r>
              <a:rPr sz="1400" b="0">
                <a:solidFill>
                  <a:srgbClr val="CCCCDC"/>
                </a:solidFill>
                <a:latin typeface="Inter"/>
              </a:rPr>
              <a:t>Triggers keep cost low: the decision model runs only when traffic looks off.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FF9830"/>
                </a:solidFill>
                <a:latin typeface="Inter"/>
              </a:rPr>
              <a:t>•  </a:t>
            </a:r>
            <a:r>
              <a:rPr sz="1400" b="0">
                <a:solidFill>
                  <a:srgbClr val="CCCCDC"/>
                </a:solidFill>
                <a:latin typeface="Inter"/>
              </a:rPr>
              <a:t>Every verdict carries evidence: thresholds, probabilities and the narrative the model read.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FF9830"/>
                </a:solidFill>
                <a:latin typeface="Inter"/>
              </a:rPr>
              <a:t>•  </a:t>
            </a:r>
            <a:r>
              <a:rPr sz="1400" b="0">
                <a:solidFill>
                  <a:srgbClr val="CCCCDC"/>
                </a:solidFill>
                <a:latin typeface="Inter"/>
              </a:rPr>
              <a:t>Runs as one self-hosted Python process with SQLite; no cloud call per decision.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FF9830"/>
                </a:solidFill>
                <a:latin typeface="Inter"/>
              </a:rPr>
              <a:t>•  </a:t>
            </a:r>
            <a:r>
              <a:rPr sz="1400" b="0">
                <a:solidFill>
                  <a:srgbClr val="CCCCDC"/>
                </a:solidFill>
                <a:latin typeface="Inter"/>
              </a:rPr>
              <a:t>The console reads the same log: every block, unblock and setting change is visible live.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8251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07A"/>
                </a:solidFill>
                <a:latin typeface="Inter"/>
              </a:rPr>
              <a:t>Aegis · PS-8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743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07A"/>
                </a:solidFill>
                <a:latin typeface="Inter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FF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217"/>
                </a:solidFill>
                <a:latin typeface="Inter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42062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707A"/>
                </a:solidFill>
                <a:latin typeface="Inter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CCCDC"/>
                </a:solidFill>
                <a:latin typeface="Inter"/>
              </a:rPr>
              <a:t>Measured on this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0292" cy="1481328"/>
          </a:xfrm>
          <a:prstGeom prst="rect">
            <a:avLst/>
          </a:prstGeom>
          <a:solidFill>
            <a:srgbClr val="73B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3212" y="1572768"/>
            <a:ext cx="5414619" cy="1481328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73936"/>
            <a:ext cx="4824831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73BF69"/>
                </a:solidFill>
                <a:latin typeface="Inter"/>
              </a:rPr>
              <a:t>22/22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CCCDC"/>
                </a:solidFill>
                <a:latin typeface="Inter"/>
              </a:rPr>
              <a:t>prompt-injection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2615"/>
            <a:ext cx="482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8D97"/>
                </a:solidFill>
                <a:latin typeface="Inter"/>
              </a:rPr>
              <a:t>rules plus model, with no false blocks on legitimate security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863" y="1572768"/>
            <a:ext cx="50292" cy="1481328"/>
          </a:xfrm>
          <a:prstGeom prst="rect">
            <a:avLst/>
          </a:prstGeom>
          <a:solidFill>
            <a:srgbClr val="579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4155" y="1572768"/>
            <a:ext cx="5414619" cy="1481328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3903" y="1773936"/>
            <a:ext cx="4824831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5794F2"/>
                </a:solidFill>
                <a:latin typeface="Inter"/>
              </a:rPr>
              <a:t>6/6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903" y="2377440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CCCDC"/>
                </a:solidFill>
                <a:latin typeface="Inter"/>
              </a:rPr>
              <a:t>client profiles classified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3903" y="2642615"/>
            <a:ext cx="482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8D97"/>
                </a:solidFill>
                <a:latin typeface="Inter"/>
              </a:rPr>
              <a:t>normal, legit poller, scraper, credential stuffing, burst, fuzzer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55264"/>
            <a:ext cx="50292" cy="1481328"/>
          </a:xfrm>
          <a:prstGeom prst="rect">
            <a:avLst/>
          </a:prstGeom>
          <a:solidFill>
            <a:srgbClr val="F24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3212" y="3255264"/>
            <a:ext cx="5414619" cy="1481328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56432"/>
            <a:ext cx="4824831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2495C"/>
                </a:solidFill>
                <a:latin typeface="Inter"/>
              </a:rPr>
              <a:t>~11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59936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CCCDC"/>
                </a:solidFill>
                <a:latin typeface="Inter"/>
              </a:rPr>
              <a:t>scraper caught mid-run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25112"/>
            <a:ext cx="482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8D97"/>
                </a:solidFill>
                <a:latin typeface="Inter"/>
              </a:rPr>
              <a:t>900+ following requests rejected with 429 until the block expired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3863" y="3255264"/>
            <a:ext cx="50292" cy="1481328"/>
          </a:xfrm>
          <a:prstGeom prst="rect">
            <a:avLst/>
          </a:prstGeom>
          <a:solidFill>
            <a:srgbClr val="FF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74155" y="3255264"/>
            <a:ext cx="5414619" cy="1481328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3903" y="3456432"/>
            <a:ext cx="4824831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9830"/>
                </a:solidFill>
                <a:latin typeface="Inter"/>
              </a:rPr>
              <a:t>309 µs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3903" y="4059936"/>
            <a:ext cx="482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CCCDC"/>
                </a:solidFill>
                <a:latin typeface="Inter"/>
              </a:rPr>
              <a:t>median fast-path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3903" y="4325112"/>
            <a:ext cx="482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8D97"/>
                </a:solidFill>
                <a:latin typeface="Inter"/>
              </a:rPr>
              <a:t>about 2 ms end to end, versus about 0.9 s for the full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2920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D707A"/>
                </a:solidFill>
                <a:latin typeface="Inter"/>
              </a:rPr>
              <a:t>All figures measured on this machine and reproducible through the benches in guard/tools/.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38251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07A"/>
                </a:solidFill>
                <a:latin typeface="Inter"/>
              </a:rPr>
              <a:t>Aegis · PS-8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43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07A"/>
                </a:solidFill>
                <a:latin typeface="Inter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FF9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217"/>
                </a:solidFill>
                <a:latin typeface="Inter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" y="420624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D707A"/>
                </a:solidFill>
                <a:latin typeface="Inter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CCCDC"/>
                </a:solidFill>
                <a:latin typeface="Inter"/>
              </a:rPr>
              <a:t>Where it stands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0292" cy="3017520"/>
          </a:xfrm>
          <a:prstGeom prst="rect">
            <a:avLst/>
          </a:prstGeom>
          <a:solidFill>
            <a:srgbClr val="73B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3212" y="1572768"/>
            <a:ext cx="5414619" cy="3017520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828800"/>
            <a:ext cx="48796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CCCDC"/>
                </a:solidFill>
                <a:latin typeface="Inter"/>
              </a:rPr>
              <a:t>Working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22576"/>
            <a:ext cx="4879695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73BF69"/>
                </a:solidFill>
                <a:latin typeface="Inter"/>
              </a:rPr>
              <a:t>•  </a:t>
            </a:r>
            <a:r>
              <a:rPr sz="1300" b="0">
                <a:solidFill>
                  <a:srgbClr val="8B8D97"/>
                </a:solidFill>
                <a:latin typeface="Inter"/>
              </a:rPr>
              <a:t>End-to-end enforcement: injection and abuse blocks applied while the request is in flight.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73BF69"/>
                </a:solidFill>
                <a:latin typeface="Inter"/>
              </a:rPr>
              <a:t>•  </a:t>
            </a:r>
            <a:r>
              <a:rPr sz="1300" b="0">
                <a:solidFill>
                  <a:srgbClr val="8B8D97"/>
                </a:solidFill>
                <a:latin typeface="Inter"/>
              </a:rPr>
              <a:t>Console: first-run setup, sessions, live metrics, settings and retention.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73BF69"/>
                </a:solidFill>
                <a:latin typeface="Inter"/>
              </a:rPr>
              <a:t>•  </a:t>
            </a:r>
            <a:r>
              <a:rPr sz="1300" b="0">
                <a:solidFill>
                  <a:srgbClr val="8B8D97"/>
                </a:solidFill>
                <a:latin typeface="Inter"/>
              </a:rPr>
              <a:t>Demos: chat firewall and abuse bench sending real requests.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3863" y="1572768"/>
            <a:ext cx="50292" cy="3017520"/>
          </a:xfrm>
          <a:prstGeom prst="rect">
            <a:avLst/>
          </a:prstGeom>
          <a:solidFill>
            <a:srgbClr val="579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4155" y="1572768"/>
            <a:ext cx="5414619" cy="3017520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6471" y="1828800"/>
            <a:ext cx="48796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CCCDC"/>
                </a:solidFill>
                <a:latin typeface="Inter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2322576"/>
            <a:ext cx="4879695" cy="205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5794F2"/>
                </a:solidFill>
                <a:latin typeface="Inter"/>
              </a:rPr>
              <a:t>•  </a:t>
            </a:r>
            <a:r>
              <a:rPr sz="1300" b="0">
                <a:solidFill>
                  <a:srgbClr val="8B8D97"/>
                </a:solidFill>
                <a:latin typeface="Inter"/>
              </a:rPr>
              <a:t>Wire graph features into the live decision narrative.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5794F2"/>
                </a:solidFill>
                <a:latin typeface="Inter"/>
              </a:rPr>
              <a:t>•  </a:t>
            </a:r>
            <a:r>
              <a:rPr sz="1300" b="0">
                <a:solidFill>
                  <a:srgbClr val="8B8D97"/>
                </a:solidFill>
                <a:latin typeface="Inter"/>
              </a:rPr>
              <a:t>Retrain the fast path on real customer traffic.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5794F2"/>
                </a:solidFill>
                <a:latin typeface="Inter"/>
              </a:rPr>
              <a:t>•  </a:t>
            </a:r>
            <a:r>
              <a:rPr sz="1300" b="0">
                <a:solidFill>
                  <a:srgbClr val="8B8D97"/>
                </a:solidFill>
                <a:latin typeface="Inter"/>
              </a:rPr>
              <a:t>Add roles to the console and export alerts to a SIEM.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92040"/>
            <a:ext cx="11185855" cy="566928"/>
          </a:xfrm>
          <a:prstGeom prst="roundRect">
            <a:avLst>
              <a:gd name="adj" fmla="val 5000"/>
            </a:avLst>
          </a:prstGeom>
          <a:solidFill>
            <a:srgbClr val="181B1F"/>
          </a:solidFill>
          <a:ln w="9525">
            <a:solidFill>
              <a:srgbClr val="2C3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892040"/>
            <a:ext cx="1118585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D707A"/>
                </a:solidFill>
                <a:latin typeface="JetBrains Mono"/>
              </a:rPr>
              <a:t>Run it:  </a:t>
            </a:r>
            <a:r>
              <a:rPr sz="1250" b="0">
                <a:solidFill>
                  <a:srgbClr val="CCCCDC"/>
                </a:solidFill>
                <a:latin typeface="JetBrains Mono"/>
              </a:rPr>
              <a:t>.venv/bin/python guard/app.py</a:t>
            </a:r>
            <a:r>
              <a:rPr sz="1250" b="0">
                <a:solidFill>
                  <a:srgbClr val="6D707A"/>
                </a:solidFill>
                <a:latin typeface="JetBrains Mono"/>
              </a:rPr>
              <a:t>   →   </a:t>
            </a:r>
            <a:r>
              <a:rPr sz="1250" b="0">
                <a:solidFill>
                  <a:srgbClr val="FF9830"/>
                </a:solidFill>
                <a:latin typeface="JetBrains Mono"/>
              </a:rPr>
              <a:t>http://127.0.0.1:8978/console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82512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07A"/>
                </a:solidFill>
                <a:latin typeface="Inter"/>
              </a:rPr>
              <a:t>Aegis · PS-8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38251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D707A"/>
                </a:solidFill>
                <a:latin typeface="Inter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